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827" r:id="rId1"/>
  </p:sldMasterIdLst>
  <p:sldIdLst>
    <p:sldId id="256" r:id="rId2"/>
    <p:sldId id="259" r:id="rId3"/>
    <p:sldId id="257" r:id="rId4"/>
    <p:sldId id="264" r:id="rId5"/>
    <p:sldId id="265" r:id="rId6"/>
    <p:sldId id="260" r:id="rId7"/>
    <p:sldId id="261" r:id="rId8"/>
    <p:sldId id="266" r:id="rId9"/>
    <p:sldId id="263" r:id="rId10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008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58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98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2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1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5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5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2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6474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53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5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1085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0" r:id="rId6"/>
    <p:sldLayoutId id="2147483816" r:id="rId7"/>
    <p:sldLayoutId id="2147483817" r:id="rId8"/>
    <p:sldLayoutId id="2147483818" r:id="rId9"/>
    <p:sldLayoutId id="2147483819" r:id="rId10"/>
    <p:sldLayoutId id="214748382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6" name="Rectangle 1047">
            <a:extLst>
              <a:ext uri="{FF2B5EF4-FFF2-40B4-BE49-F238E27FC236}">
                <a16:creationId xmlns:a16="http://schemas.microsoft.com/office/drawing/2014/main" id="{6BF1DCD9-4684-4B84-AD73-6652C8BAC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et Started with Jetson Nano 4GB &amp; CSI Camera - OKdo">
            <a:extLst>
              <a:ext uri="{FF2B5EF4-FFF2-40B4-BE49-F238E27FC236}">
                <a16:creationId xmlns:a16="http://schemas.microsoft.com/office/drawing/2014/main" id="{A612D97C-12FC-A932-D921-1C4F44F7A6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06" b="8138"/>
          <a:stretch/>
        </p:blipFill>
        <p:spPr bwMode="auto">
          <a:xfrm>
            <a:off x="6099632" y="3429000"/>
            <a:ext cx="6099623" cy="3428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7" name="Freeform: Shape 1049">
            <a:extLst>
              <a:ext uri="{FF2B5EF4-FFF2-40B4-BE49-F238E27FC236}">
                <a16:creationId xmlns:a16="http://schemas.microsoft.com/office/drawing/2014/main" id="{4BE6A732-8124-4A59-8EC9-BF4A1648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2226538" y="-2233466"/>
            <a:ext cx="6858000" cy="11324929"/>
          </a:xfrm>
          <a:custGeom>
            <a:avLst/>
            <a:gdLst>
              <a:gd name="connsiteX0" fmla="*/ 0 w 6858000"/>
              <a:gd name="connsiteY0" fmla="*/ 9303227 h 11262142"/>
              <a:gd name="connsiteX1" fmla="*/ 0 w 6858000"/>
              <a:gd name="connsiteY1" fmla="*/ 6495555 h 11262142"/>
              <a:gd name="connsiteX2" fmla="*/ 1 w 6858000"/>
              <a:gd name="connsiteY2" fmla="*/ 6495555 h 11262142"/>
              <a:gd name="connsiteX3" fmla="*/ 1 w 6858000"/>
              <a:gd name="connsiteY3" fmla="*/ 0 h 11262142"/>
              <a:gd name="connsiteX4" fmla="*/ 6858000 w 6858000"/>
              <a:gd name="connsiteY4" fmla="*/ 6015407 h 11262142"/>
              <a:gd name="connsiteX5" fmla="*/ 6858000 w 6858000"/>
              <a:gd name="connsiteY5" fmla="*/ 8999698 h 11262142"/>
              <a:gd name="connsiteX6" fmla="*/ 6858000 w 6858000"/>
              <a:gd name="connsiteY6" fmla="*/ 11262142 h 11262142"/>
              <a:gd name="connsiteX7" fmla="*/ 1 w 6858000"/>
              <a:gd name="connsiteY7" fmla="*/ 11262142 h 11262142"/>
              <a:gd name="connsiteX8" fmla="*/ 1 w 6858000"/>
              <a:gd name="connsiteY8" fmla="*/ 9303227 h 1126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1262142">
                <a:moveTo>
                  <a:pt x="0" y="9303227"/>
                </a:moveTo>
                <a:lnTo>
                  <a:pt x="0" y="6495555"/>
                </a:lnTo>
                <a:lnTo>
                  <a:pt x="1" y="6495555"/>
                </a:lnTo>
                <a:lnTo>
                  <a:pt x="1" y="0"/>
                </a:lnTo>
                <a:lnTo>
                  <a:pt x="6858000" y="6015407"/>
                </a:lnTo>
                <a:lnTo>
                  <a:pt x="6858000" y="8999698"/>
                </a:lnTo>
                <a:lnTo>
                  <a:pt x="6858000" y="11262142"/>
                </a:lnTo>
                <a:lnTo>
                  <a:pt x="1" y="11262142"/>
                </a:lnTo>
                <a:lnTo>
                  <a:pt x="1" y="9303227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BE11D0C-1B6F-8BC1-BE08-C71197605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838" y="1061686"/>
            <a:ext cx="11118715" cy="3793336"/>
          </a:xfrm>
        </p:spPr>
        <p:txBody>
          <a:bodyPr anchor="t">
            <a:normAutofit/>
          </a:bodyPr>
          <a:lstStyle/>
          <a:p>
            <a:pPr algn="ctr"/>
            <a:r>
              <a:rPr lang="en-US" sz="6600" dirty="0">
                <a:solidFill>
                  <a:srgbClr val="FFFFFF"/>
                </a:solidFill>
              </a:rPr>
              <a:t>Smart refrigerator using ai </a:t>
            </a:r>
            <a:br>
              <a:rPr lang="en-US" sz="6600" dirty="0">
                <a:solidFill>
                  <a:srgbClr val="FFFFFF"/>
                </a:solidFill>
              </a:rPr>
            </a:br>
            <a:r>
              <a:rPr lang="en-US" sz="6600" dirty="0">
                <a:solidFill>
                  <a:srgbClr val="FFFFFF"/>
                </a:solidFill>
              </a:rPr>
              <a:t> </a:t>
            </a:r>
            <a:r>
              <a:rPr lang="en-US" sz="5400" u="sng" dirty="0">
                <a:solidFill>
                  <a:srgbClr val="FFFFFF"/>
                </a:solidFill>
              </a:rPr>
              <a:t>Part b</a:t>
            </a:r>
            <a:r>
              <a:rPr lang="en-US" sz="5400" dirty="0">
                <a:solidFill>
                  <a:srgbClr val="FFFFFF"/>
                </a:solidFill>
              </a:rPr>
              <a:t> </a:t>
            </a:r>
            <a:endParaRPr lang="en-US" sz="6600" dirty="0">
              <a:solidFill>
                <a:srgbClr val="FFFFFF"/>
              </a:solidFill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2BC73D8-162E-33B0-ABFE-5D87D00F0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8357" y="4256752"/>
            <a:ext cx="5426452" cy="732996"/>
          </a:xfrm>
        </p:spPr>
        <p:txBody>
          <a:bodyPr anchor="t">
            <a:noAutofit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Supervisor: Mony Orbach </a:t>
            </a:r>
          </a:p>
          <a:p>
            <a:r>
              <a:rPr lang="en-US" sz="1700" dirty="0">
                <a:solidFill>
                  <a:srgbClr val="FFFFFF"/>
                </a:solidFill>
              </a:rPr>
              <a:t>Students: Raghad </a:t>
            </a:r>
            <a:r>
              <a:rPr lang="en-US" sz="1700" dirty="0" err="1">
                <a:solidFill>
                  <a:srgbClr val="FFFFFF"/>
                </a:solidFill>
              </a:rPr>
              <a:t>Badarny</a:t>
            </a:r>
            <a:r>
              <a:rPr lang="en-US" sz="1700" dirty="0">
                <a:solidFill>
                  <a:srgbClr val="FFFFFF"/>
                </a:solidFill>
              </a:rPr>
              <a:t>, Mohammed </a:t>
            </a:r>
            <a:r>
              <a:rPr lang="en-US" sz="1700" dirty="0" err="1">
                <a:solidFill>
                  <a:srgbClr val="FFFFFF"/>
                </a:solidFill>
              </a:rPr>
              <a:t>Ghanaiem</a:t>
            </a:r>
            <a:r>
              <a:rPr lang="en-US" dirty="0">
                <a:solidFill>
                  <a:srgbClr val="FFFFFF"/>
                </a:solidFill>
              </a:rPr>
              <a:t>	</a:t>
            </a:r>
          </a:p>
        </p:txBody>
      </p:sp>
      <p:cxnSp>
        <p:nvCxnSpPr>
          <p:cNvPr id="1058" name="Straight Connector 1051">
            <a:extLst>
              <a:ext uri="{FF2B5EF4-FFF2-40B4-BE49-F238E27FC236}">
                <a16:creationId xmlns:a16="http://schemas.microsoft.com/office/drawing/2014/main" id="{EFDAA6A4-1F42-460B-A500-921EEB4BC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6064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165C2AE8-5B82-9BDD-8ED5-3A475511D76F}"/>
              </a:ext>
            </a:extLst>
          </p:cNvPr>
          <p:cNvSpPr txBox="1">
            <a:spLocks/>
          </p:cNvSpPr>
          <p:nvPr/>
        </p:nvSpPr>
        <p:spPr>
          <a:xfrm>
            <a:off x="1188357" y="5271836"/>
            <a:ext cx="4858966" cy="73299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solidFill>
                  <a:srgbClr val="FFFFFF"/>
                </a:solidFill>
              </a:rPr>
              <a:t>Spring 2023-2024</a:t>
            </a:r>
          </a:p>
          <a:p>
            <a:r>
              <a:rPr lang="en-US" sz="1700" dirty="0">
                <a:solidFill>
                  <a:srgbClr val="FFFFFF"/>
                </a:solidFill>
              </a:rPr>
              <a:t>PDR Presentation</a:t>
            </a:r>
            <a:r>
              <a:rPr lang="en-US" dirty="0">
                <a:solidFill>
                  <a:srgbClr val="FFFFFF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29560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AFCE9EA-1AFC-3F68-1D3B-C83F7696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Background and Motivation</a:t>
            </a:r>
          </a:p>
        </p:txBody>
      </p:sp>
      <p:sp>
        <p:nvSpPr>
          <p:cNvPr id="5" name="מציין מיקום תוכן 4">
            <a:extLst>
              <a:ext uri="{FF2B5EF4-FFF2-40B4-BE49-F238E27FC236}">
                <a16:creationId xmlns:a16="http://schemas.microsoft.com/office/drawing/2014/main" id="{7E6EB73A-F016-CD21-E0C4-B6EAA42FF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614658"/>
            <a:ext cx="9905999" cy="3567118"/>
          </a:xfrm>
        </p:spPr>
        <p:txBody>
          <a:bodyPr/>
          <a:lstStyle/>
          <a:p>
            <a:pPr algn="ctr"/>
            <a:r>
              <a:rPr lang="en-US" dirty="0"/>
              <a:t>Following the completion of part A, efforts were made to improve the project’s user-friendliness. </a:t>
            </a:r>
          </a:p>
          <a:p>
            <a:pPr algn="ctr"/>
            <a:r>
              <a:rPr lang="en-US" dirty="0"/>
              <a:t>This involved creating a system that receives data from the cloud witch itself gets the data from many smart refrigerators. </a:t>
            </a:r>
          </a:p>
          <a:p>
            <a:pPr algn="ctr"/>
            <a:r>
              <a:rPr lang="en-US" dirty="0"/>
              <a:t>Developing an application and integrating the project with cloud services, allowing the lists to be presented directly within the application.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971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D69486-13D8-C42A-7CC3-1466F31F5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Goal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44BDE8C-EC9A-783C-30E6-E86DE431E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Connect to cloud, so it can handle and serve many users , so all refrigerators send their data to it.</a:t>
            </a:r>
          </a:p>
          <a:p>
            <a:pPr algn="ctr"/>
            <a:r>
              <a:rPr lang="en-US" dirty="0"/>
              <a:t>Store data in the cloud while ensuring that each user’s data is kept distinct and separate from other since there are many users connected to it.</a:t>
            </a:r>
          </a:p>
          <a:p>
            <a:pPr algn="ctr"/>
            <a:r>
              <a:rPr lang="en-US" dirty="0"/>
              <a:t>Build an application with a username and password for each user. </a:t>
            </a:r>
          </a:p>
          <a:p>
            <a:pPr algn="ctr"/>
            <a:r>
              <a:rPr lang="en-US" dirty="0"/>
              <a:t>Encode the data in the cloud and secure the system.  </a:t>
            </a:r>
          </a:p>
        </p:txBody>
      </p:sp>
    </p:spTree>
    <p:extLst>
      <p:ext uri="{BB962C8B-B14F-4D97-AF65-F5344CB8AC3E}">
        <p14:creationId xmlns:p14="http://schemas.microsoft.com/office/powerpoint/2010/main" val="3982883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EA69B6-DB4F-B251-5C32-DEBBC9DE5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8" y="872935"/>
            <a:ext cx="11507821" cy="136089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Development environment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18E510E-64C4-EC40-81BD-609BB45FC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711404"/>
            <a:ext cx="9905999" cy="3567118"/>
          </a:xfrm>
        </p:spPr>
        <p:txBody>
          <a:bodyPr/>
          <a:lstStyle/>
          <a:p>
            <a:r>
              <a:rPr lang="en-US" dirty="0"/>
              <a:t>Development environment: </a:t>
            </a:r>
            <a:r>
              <a:rPr lang="en-US" dirty="0" err="1"/>
              <a:t>linux</a:t>
            </a:r>
            <a:r>
              <a:rPr lang="en-US" dirty="0"/>
              <a:t>.</a:t>
            </a:r>
          </a:p>
          <a:p>
            <a:r>
              <a:rPr lang="en-US" dirty="0"/>
              <a:t>Coding language: Python. </a:t>
            </a:r>
          </a:p>
          <a:p>
            <a:r>
              <a:rPr lang="en-US" dirty="0"/>
              <a:t>cloud’s development environment – yet to be chosen. </a:t>
            </a:r>
          </a:p>
        </p:txBody>
      </p:sp>
    </p:spTree>
    <p:extLst>
      <p:ext uri="{BB962C8B-B14F-4D97-AF65-F5344CB8AC3E}">
        <p14:creationId xmlns:p14="http://schemas.microsoft.com/office/powerpoint/2010/main" val="425289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EC201CB-FB81-299D-A6E1-CF191E8DF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063546"/>
            <a:ext cx="9905999" cy="35671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All components are from part A: </a:t>
            </a:r>
          </a:p>
          <a:p>
            <a:r>
              <a:rPr lang="en-US" dirty="0"/>
              <a:t>Webcam</a:t>
            </a:r>
          </a:p>
          <a:p>
            <a:r>
              <a:rPr lang="en-US" dirty="0"/>
              <a:t>Jetson Nano</a:t>
            </a:r>
          </a:p>
          <a:p>
            <a:r>
              <a:rPr lang="en-US" dirty="0"/>
              <a:t>touch screen</a:t>
            </a: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41FD4FB7-FD81-C4C7-684A-896F8B988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3125"/>
            <a:ext cx="9906000" cy="13604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Hardware Components</a:t>
            </a:r>
          </a:p>
        </p:txBody>
      </p:sp>
    </p:spTree>
    <p:extLst>
      <p:ext uri="{BB962C8B-B14F-4D97-AF65-F5344CB8AC3E}">
        <p14:creationId xmlns:p14="http://schemas.microsoft.com/office/powerpoint/2010/main" val="4011803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ECBF0A-7704-E586-9439-1FB19FCB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173"/>
            <a:ext cx="9905999" cy="1360898"/>
          </a:xfrm>
        </p:spPr>
        <p:txBody>
          <a:bodyPr/>
          <a:lstStyle/>
          <a:p>
            <a:pPr algn="ctr"/>
            <a:r>
              <a:rPr lang="en-US" dirty="0"/>
              <a:t>Block Diagram – How it’s connected </a:t>
            </a:r>
          </a:p>
        </p:txBody>
      </p:sp>
      <p:pic>
        <p:nvPicPr>
          <p:cNvPr id="1026" name="Picture 2" descr="Edge Computing Versus Cloud Computing: Which is Right for Your Business?">
            <a:extLst>
              <a:ext uri="{FF2B5EF4-FFF2-40B4-BE49-F238E27FC236}">
                <a16:creationId xmlns:a16="http://schemas.microsoft.com/office/drawing/2014/main" id="{615073FC-F8DA-43C1-D9DA-3A6745B14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205" y="2906170"/>
            <a:ext cx="3713534" cy="247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amsung expands its fleet of Family Hub smart fridges - CNET">
            <a:extLst>
              <a:ext uri="{FF2B5EF4-FFF2-40B4-BE49-F238E27FC236}">
                <a16:creationId xmlns:a16="http://schemas.microsoft.com/office/drawing/2014/main" id="{CE925494-F989-DD18-DDCE-8AE9385291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8" t="10018" r="21745" b="13943"/>
          <a:stretch/>
        </p:blipFill>
        <p:spPr bwMode="auto">
          <a:xfrm>
            <a:off x="583661" y="3301223"/>
            <a:ext cx="1324356" cy="176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מחבר חץ ישר 4">
            <a:extLst>
              <a:ext uri="{FF2B5EF4-FFF2-40B4-BE49-F238E27FC236}">
                <a16:creationId xmlns:a16="http://schemas.microsoft.com/office/drawing/2014/main" id="{4ECF20A4-9756-0942-D853-F7DBFC748554}"/>
              </a:ext>
            </a:extLst>
          </p:cNvPr>
          <p:cNvCxnSpPr>
            <a:cxnSpLocks/>
          </p:cNvCxnSpPr>
          <p:nvPr/>
        </p:nvCxnSpPr>
        <p:spPr>
          <a:xfrm>
            <a:off x="2724495" y="3077219"/>
            <a:ext cx="1162026" cy="648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8EC150CF-E681-77FC-7FEA-C5CCD6909FDE}"/>
              </a:ext>
            </a:extLst>
          </p:cNvPr>
          <p:cNvCxnSpPr>
            <a:cxnSpLocks/>
          </p:cNvCxnSpPr>
          <p:nvPr/>
        </p:nvCxnSpPr>
        <p:spPr>
          <a:xfrm flipV="1">
            <a:off x="7828939" y="3120023"/>
            <a:ext cx="909209" cy="6202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0438983E-06B8-D972-59ED-B703AF5BE103}"/>
              </a:ext>
            </a:extLst>
          </p:cNvPr>
          <p:cNvCxnSpPr>
            <a:cxnSpLocks/>
          </p:cNvCxnSpPr>
          <p:nvPr/>
        </p:nvCxnSpPr>
        <p:spPr>
          <a:xfrm flipH="1">
            <a:off x="7856135" y="3428999"/>
            <a:ext cx="882013" cy="5679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Création application mobile iOS Android Meknès, Pas Cher | myfreelance.ma">
            <a:extLst>
              <a:ext uri="{FF2B5EF4-FFF2-40B4-BE49-F238E27FC236}">
                <a16:creationId xmlns:a16="http://schemas.microsoft.com/office/drawing/2014/main" id="{1414FA87-C5AD-0298-E2BC-8D3B1B47B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072" y="2010423"/>
            <a:ext cx="1445927" cy="91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réation application mobile iOS Android Meknès, Pas Cher | myfreelance.ma">
            <a:extLst>
              <a:ext uri="{FF2B5EF4-FFF2-40B4-BE49-F238E27FC236}">
                <a16:creationId xmlns:a16="http://schemas.microsoft.com/office/drawing/2014/main" id="{B55F0981-1946-6174-8A05-FF4F6612C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8057" y="3078482"/>
            <a:ext cx="1445927" cy="91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réation application mobile iOS Android Meknès, Pas Cher | myfreelance.ma">
            <a:extLst>
              <a:ext uri="{FF2B5EF4-FFF2-40B4-BE49-F238E27FC236}">
                <a16:creationId xmlns:a16="http://schemas.microsoft.com/office/drawing/2014/main" id="{5531C2C4-8E7C-4F19-587B-E15AF16C8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432" y="3077219"/>
            <a:ext cx="1445927" cy="91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réation application mobile iOS Android Meknès, Pas Cher | myfreelance.ma">
            <a:extLst>
              <a:ext uri="{FF2B5EF4-FFF2-40B4-BE49-F238E27FC236}">
                <a16:creationId xmlns:a16="http://schemas.microsoft.com/office/drawing/2014/main" id="{3BCCAF1F-9120-8B9F-ADEF-35B6AD931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072" y="4144015"/>
            <a:ext cx="1445927" cy="91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réation application mobile iOS Android Meknès, Pas Cher | myfreelance.ma">
            <a:extLst>
              <a:ext uri="{FF2B5EF4-FFF2-40B4-BE49-F238E27FC236}">
                <a16:creationId xmlns:a16="http://schemas.microsoft.com/office/drawing/2014/main" id="{252C6E8F-E4E9-DD29-6266-536794771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431" y="958461"/>
            <a:ext cx="1445927" cy="91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réation application mobile iOS Android Meknès, Pas Cher | myfreelance.ma">
            <a:extLst>
              <a:ext uri="{FF2B5EF4-FFF2-40B4-BE49-F238E27FC236}">
                <a16:creationId xmlns:a16="http://schemas.microsoft.com/office/drawing/2014/main" id="{5E60F2B7-4F67-E852-ECBA-41B8D2675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1431" y="5168119"/>
            <a:ext cx="1445927" cy="91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Samsung expands its fleet of Family Hub smart fridges - CNET">
            <a:extLst>
              <a:ext uri="{FF2B5EF4-FFF2-40B4-BE49-F238E27FC236}">
                <a16:creationId xmlns:a16="http://schemas.microsoft.com/office/drawing/2014/main" id="{930256B9-B650-0005-213C-37A7B46590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8" t="10018" r="21745" b="13943"/>
          <a:stretch/>
        </p:blipFill>
        <p:spPr bwMode="auto">
          <a:xfrm>
            <a:off x="1271164" y="1315945"/>
            <a:ext cx="1324356" cy="176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Samsung expands its fleet of Family Hub smart fridges - CNET">
            <a:extLst>
              <a:ext uri="{FF2B5EF4-FFF2-40B4-BE49-F238E27FC236}">
                <a16:creationId xmlns:a16="http://schemas.microsoft.com/office/drawing/2014/main" id="{3B02FB9C-850D-5ACC-1F29-7CB91D7250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8" t="10018" r="21745" b="13943"/>
          <a:stretch/>
        </p:blipFill>
        <p:spPr bwMode="auto">
          <a:xfrm>
            <a:off x="2062317" y="4144015"/>
            <a:ext cx="1324356" cy="176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16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כותרת 4">
            <a:extLst>
              <a:ext uri="{FF2B5EF4-FFF2-40B4-BE49-F238E27FC236}">
                <a16:creationId xmlns:a16="http://schemas.microsoft.com/office/drawing/2014/main" id="{058B053B-E157-E370-FD36-27C32944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593" y="327639"/>
            <a:ext cx="9905999" cy="1360898"/>
          </a:xfrm>
        </p:spPr>
        <p:txBody>
          <a:bodyPr/>
          <a:lstStyle/>
          <a:p>
            <a:pPr algn="ctr"/>
            <a:r>
              <a:rPr lang="en-US" dirty="0"/>
              <a:t>Cloud And It’s Responsibilities </a:t>
            </a:r>
          </a:p>
        </p:txBody>
      </p:sp>
      <p:pic>
        <p:nvPicPr>
          <p:cNvPr id="6" name="Picture 2" descr="Edge Computing Versus Cloud Computing: Which is Right for Your Business?">
            <a:extLst>
              <a:ext uri="{FF2B5EF4-FFF2-40B4-BE49-F238E27FC236}">
                <a16:creationId xmlns:a16="http://schemas.microsoft.com/office/drawing/2014/main" id="{71B0FD77-BEAB-745A-B403-693F31E99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937" y="1815544"/>
            <a:ext cx="2951313" cy="196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BF8463CB-EBCB-C94E-1083-6BB6FC90B05D}"/>
              </a:ext>
            </a:extLst>
          </p:cNvPr>
          <p:cNvSpPr/>
          <p:nvPr/>
        </p:nvSpPr>
        <p:spPr>
          <a:xfrm>
            <a:off x="8631973" y="3155652"/>
            <a:ext cx="2140085" cy="125486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Memory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5E81AA12-1323-B05D-4877-94F288706CA4}"/>
              </a:ext>
            </a:extLst>
          </p:cNvPr>
          <p:cNvSpPr/>
          <p:nvPr/>
        </p:nvSpPr>
        <p:spPr>
          <a:xfrm>
            <a:off x="6491882" y="4690314"/>
            <a:ext cx="2140085" cy="125486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Managing many users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8207D44F-C9FA-9953-34DE-AA4E17BDBF2D}"/>
              </a:ext>
            </a:extLst>
          </p:cNvPr>
          <p:cNvSpPr/>
          <p:nvPr/>
        </p:nvSpPr>
        <p:spPr>
          <a:xfrm>
            <a:off x="3109605" y="4694204"/>
            <a:ext cx="2140085" cy="125486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Managing lists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A6513E3F-5D50-2AA4-E2D1-25D2A455CE97}"/>
              </a:ext>
            </a:extLst>
          </p:cNvPr>
          <p:cNvCxnSpPr>
            <a:cxnSpLocks/>
          </p:cNvCxnSpPr>
          <p:nvPr/>
        </p:nvCxnSpPr>
        <p:spPr>
          <a:xfrm>
            <a:off x="6926094" y="3910093"/>
            <a:ext cx="521156" cy="6070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4A375ACC-A209-B845-CB93-D97496D2A454}"/>
              </a:ext>
            </a:extLst>
          </p:cNvPr>
          <p:cNvCxnSpPr>
            <a:cxnSpLocks/>
          </p:cNvCxnSpPr>
          <p:nvPr/>
        </p:nvCxnSpPr>
        <p:spPr>
          <a:xfrm flipH="1">
            <a:off x="4315833" y="3888936"/>
            <a:ext cx="616078" cy="6031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9A007261-9A68-DD1E-3389-965ABB146740}"/>
              </a:ext>
            </a:extLst>
          </p:cNvPr>
          <p:cNvSpPr/>
          <p:nvPr/>
        </p:nvSpPr>
        <p:spPr>
          <a:xfrm>
            <a:off x="985448" y="3163010"/>
            <a:ext cx="2140085" cy="125486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Encoding Data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F2C95DD4-E787-A9C6-AAFD-E548B144F941}"/>
              </a:ext>
            </a:extLst>
          </p:cNvPr>
          <p:cNvCxnSpPr>
            <a:cxnSpLocks/>
          </p:cNvCxnSpPr>
          <p:nvPr/>
        </p:nvCxnSpPr>
        <p:spPr>
          <a:xfrm flipH="1">
            <a:off x="3441822" y="3429000"/>
            <a:ext cx="737826" cy="257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936D8118-559D-81D2-FABA-5A5460C85E07}"/>
              </a:ext>
            </a:extLst>
          </p:cNvPr>
          <p:cNvCxnSpPr>
            <a:cxnSpLocks/>
          </p:cNvCxnSpPr>
          <p:nvPr/>
        </p:nvCxnSpPr>
        <p:spPr>
          <a:xfrm>
            <a:off x="7709025" y="3246606"/>
            <a:ext cx="606659" cy="3647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742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Création application mobile iOS Android Meknès, Pas Cher | myfreelance.ma">
            <a:extLst>
              <a:ext uri="{FF2B5EF4-FFF2-40B4-BE49-F238E27FC236}">
                <a16:creationId xmlns:a16="http://schemas.microsoft.com/office/drawing/2014/main" id="{B70BF43A-CD88-CD85-8016-84FE6BCB7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1" r="9672"/>
          <a:stretch/>
        </p:blipFill>
        <p:spPr bwMode="auto">
          <a:xfrm>
            <a:off x="3093268" y="10"/>
            <a:ext cx="9098732" cy="6857990"/>
          </a:xfrm>
          <a:custGeom>
            <a:avLst/>
            <a:gdLst/>
            <a:ahLst/>
            <a:cxnLst/>
            <a:rect l="l" t="t" r="r" b="b"/>
            <a:pathLst>
              <a:path w="9098732" h="6858000">
                <a:moveTo>
                  <a:pt x="6010592" y="0"/>
                </a:moveTo>
                <a:lnTo>
                  <a:pt x="8235629" y="4"/>
                </a:lnTo>
                <a:cubicBezTo>
                  <a:pt x="8235629" y="3"/>
                  <a:pt x="8235630" y="3"/>
                  <a:pt x="8235630" y="2"/>
                </a:cubicBezTo>
                <a:lnTo>
                  <a:pt x="9098732" y="0"/>
                </a:lnTo>
                <a:lnTo>
                  <a:pt x="909873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C63406-9171-4282-BAAB-2DDC6831F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0295" y="-2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9C81144-889D-A923-A380-A578E8B3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138" y="143363"/>
            <a:ext cx="5920740" cy="1360898"/>
          </a:xfrm>
        </p:spPr>
        <p:txBody>
          <a:bodyPr>
            <a:normAutofit/>
          </a:bodyPr>
          <a:lstStyle/>
          <a:p>
            <a:r>
              <a:rPr lang="en-US" dirty="0"/>
              <a:t>Application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35F06FE-8A15-91D9-B22E-48DD7187C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88" y="1805148"/>
            <a:ext cx="7120646" cy="4751962"/>
          </a:xfrm>
        </p:spPr>
        <p:txBody>
          <a:bodyPr>
            <a:normAutofit/>
          </a:bodyPr>
          <a:lstStyle/>
          <a:p>
            <a:r>
              <a:rPr lang="en-US" dirty="0"/>
              <a:t>User should log in using a username and password.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It should display main lists: </a:t>
            </a:r>
            <a:br>
              <a:rPr lang="en-US" dirty="0"/>
            </a:br>
            <a:r>
              <a:rPr lang="en-US" dirty="0"/>
              <a:t>- Shopping list </a:t>
            </a:r>
            <a:br>
              <a:rPr lang="en-US" dirty="0"/>
            </a:br>
            <a:r>
              <a:rPr lang="en-US" dirty="0"/>
              <a:t>- Expired list </a:t>
            </a:r>
            <a:br>
              <a:rPr lang="en-US" dirty="0"/>
            </a:br>
            <a:r>
              <a:rPr lang="en-US" dirty="0"/>
              <a:t>-Expiring soon list </a:t>
            </a:r>
          </a:p>
        </p:txBody>
      </p:sp>
    </p:spTree>
    <p:extLst>
      <p:ext uri="{BB962C8B-B14F-4D97-AF65-F5344CB8AC3E}">
        <p14:creationId xmlns:p14="http://schemas.microsoft.com/office/powerpoint/2010/main" val="32531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C8478D-3797-1B86-D747-3A15A60BF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05" y="29671"/>
            <a:ext cx="9905999" cy="1360898"/>
          </a:xfrm>
        </p:spPr>
        <p:txBody>
          <a:bodyPr/>
          <a:lstStyle/>
          <a:p>
            <a:pPr algn="ctr"/>
            <a:r>
              <a:rPr lang="en-US" dirty="0"/>
              <a:t>Timetable</a:t>
            </a:r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41DBDA54-55ED-BD14-934E-FCF1A8E9F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124825"/>
              </p:ext>
            </p:extLst>
          </p:nvPr>
        </p:nvGraphicFramePr>
        <p:xfrm>
          <a:off x="2145446" y="1225199"/>
          <a:ext cx="7200715" cy="528152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0358">
                  <a:extLst>
                    <a:ext uri="{9D8B030D-6E8A-4147-A177-3AD203B41FA5}">
                      <a16:colId xmlns:a16="http://schemas.microsoft.com/office/drawing/2014/main" val="3150498000"/>
                    </a:ext>
                  </a:extLst>
                </a:gridCol>
                <a:gridCol w="3600357">
                  <a:extLst>
                    <a:ext uri="{9D8B030D-6E8A-4147-A177-3AD203B41FA5}">
                      <a16:colId xmlns:a16="http://schemas.microsoft.com/office/drawing/2014/main" val="3946790232"/>
                    </a:ext>
                  </a:extLst>
                </a:gridCol>
              </a:tblGrid>
              <a:tr h="32196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Goal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Week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35951"/>
                  </a:ext>
                </a:extLst>
              </a:tr>
              <a:tr h="793884">
                <a:tc>
                  <a:txBody>
                    <a:bodyPr/>
                    <a:lstStyle/>
                    <a:p>
                      <a:r>
                        <a:rPr lang="en-US" dirty="0"/>
                        <a:t>PDR PowerPoint </a:t>
                      </a:r>
                    </a:p>
                    <a:p>
                      <a:r>
                        <a:rPr lang="en-US" dirty="0"/>
                        <a:t>Get familiar with clouds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(18.8.24 - 24.8.24)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199013"/>
                  </a:ext>
                </a:extLst>
              </a:tr>
              <a:tr h="5557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Choose which cloud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(25.8.24 - 31.8.24)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10213"/>
                  </a:ext>
                </a:extLst>
              </a:tr>
              <a:tr h="55571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Exams Break (1.9.24 – 19.10.24)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22498"/>
                  </a:ext>
                </a:extLst>
              </a:tr>
              <a:tr h="321963">
                <a:tc rowSpan="2">
                  <a:txBody>
                    <a:bodyPr/>
                    <a:lstStyle/>
                    <a:p>
                      <a:r>
                        <a:rPr lang="en-US" dirty="0"/>
                        <a:t>Learn encoding data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(20.10.24 - 26.10.24)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43600"/>
                  </a:ext>
                </a:extLst>
              </a:tr>
              <a:tr h="32196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(27.10.24 - 2.11.24)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173452"/>
                  </a:ext>
                </a:extLst>
              </a:tr>
              <a:tr h="3219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Learn how to build an 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 (3.11.24 - 9.11.24)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237082"/>
                  </a:ext>
                </a:extLst>
              </a:tr>
              <a:tr h="32196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(10.11.24 - 16.11.24)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608551"/>
                  </a:ext>
                </a:extLst>
              </a:tr>
              <a:tr h="321963">
                <a:tc rowSpan="2">
                  <a:txBody>
                    <a:bodyPr/>
                    <a:lstStyle/>
                    <a:p>
                      <a:r>
                        <a:rPr lang="en-US" dirty="0"/>
                        <a:t>Connect to cloud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 (17.11.24 – 23.11.24)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02909"/>
                  </a:ext>
                </a:extLst>
              </a:tr>
              <a:tr h="32196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(24.11.24 – 30.11.24)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605203"/>
                  </a:ext>
                </a:extLst>
              </a:tr>
              <a:tr h="321963">
                <a:tc rowSpan="2">
                  <a:txBody>
                    <a:bodyPr/>
                    <a:lstStyle/>
                    <a:p>
                      <a:r>
                        <a:rPr lang="en-US" dirty="0"/>
                        <a:t>Build an application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 (1.12.24 – 7.12.24)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191727"/>
                  </a:ext>
                </a:extLst>
              </a:tr>
              <a:tr h="32196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(8.12.24 – 14.12.24)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081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91255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Regatta Yellow">
      <a:dk1>
        <a:sysClr val="windowText" lastClr="000000"/>
      </a:dk1>
      <a:lt1>
        <a:sysClr val="window" lastClr="FFFFFF"/>
      </a:lt1>
      <a:dk2>
        <a:srgbClr val="181C30"/>
      </a:dk2>
      <a:lt2>
        <a:srgbClr val="C8E1F4"/>
      </a:lt2>
      <a:accent1>
        <a:srgbClr val="217ED3"/>
      </a:accent1>
      <a:accent2>
        <a:srgbClr val="B92525"/>
      </a:accent2>
      <a:accent3>
        <a:srgbClr val="18558C"/>
      </a:accent3>
      <a:accent4>
        <a:srgbClr val="1D8B35"/>
      </a:accent4>
      <a:accent5>
        <a:srgbClr val="EA75AA"/>
      </a:accent5>
      <a:accent6>
        <a:srgbClr val="F5A700"/>
      </a:accent6>
      <a:hlink>
        <a:srgbClr val="DB0000"/>
      </a:hlink>
      <a:folHlink>
        <a:srgbClr val="066BB6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2421</TotalTime>
  <Words>346</Words>
  <Application>Microsoft Office PowerPoint</Application>
  <PresentationFormat>شاشة عريضة</PresentationFormat>
  <Paragraphs>53</Paragraphs>
  <Slides>9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0" baseType="lpstr">
      <vt:lpstr>RegattaVTI</vt:lpstr>
      <vt:lpstr>Smart refrigerator using ai   Part b </vt:lpstr>
      <vt:lpstr>Background and Motivation</vt:lpstr>
      <vt:lpstr>Project Goal</vt:lpstr>
      <vt:lpstr>Development environment</vt:lpstr>
      <vt:lpstr>Hardware Components</vt:lpstr>
      <vt:lpstr>Block Diagram – How it’s connected </vt:lpstr>
      <vt:lpstr>Cloud And It’s Responsibilities </vt:lpstr>
      <vt:lpstr>Application </vt:lpstr>
      <vt:lpstr>Timetable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refrigerator using ai</dc:title>
  <dc:creator>Raghad Badarny</dc:creator>
  <cp:lastModifiedBy>Mohamed Ghanayem</cp:lastModifiedBy>
  <cp:revision>6</cp:revision>
  <dcterms:created xsi:type="dcterms:W3CDTF">2024-01-23T20:43:17Z</dcterms:created>
  <dcterms:modified xsi:type="dcterms:W3CDTF">2024-12-19T08:03:50Z</dcterms:modified>
</cp:coreProperties>
</file>